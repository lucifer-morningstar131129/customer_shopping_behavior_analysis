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Inter Black"/>
      <p:regular r:id="rId201317"/>
    </p:embeddedFont>
    <p:embeddedFont>
      <p:font typeface="Petrona"/>
      <p:regular r:id="rId201318"/>
    </p:embeddedFont>
    <p:embeddedFont>
      <p:font typeface="Petrona SemiBold"/>
      <p:regular r:id="rId201319"/>
    </p:embeddedFont>
    <p:embeddedFont>
      <p:font typeface="Petrona Bold"/>
      <p:regular r:id="rId201320"/>
    </p:embeddedFont>
    <p:embeddedFont>
      <p:font typeface="Petrona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114748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Shopping Behavior Analysis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363864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data-driven study of consumer purchasing patterns using Python, SQL &amp; Power BI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456113"/>
            <a:ext cx="4757122" cy="287139"/>
          </a:xfrm>
          <a:prstGeom prst="roundRect">
            <a:avLst>
              <a:gd name="adj" fmla="val 22118"/>
            </a:avLst>
          </a:prstGeom>
          <a:solidFill>
            <a:srgbClr val="1C113B"/>
          </a:solidFill>
          <a:ln/>
        </p:spPr>
      </p:sp>
      <p:sp>
        <p:nvSpPr>
          <p:cNvPr id="6" name="Text 3"/>
          <p:cNvSpPr/>
          <p:nvPr/>
        </p:nvSpPr>
        <p:spPr>
          <a:xfrm>
            <a:off x="774879" y="4512766"/>
            <a:ext cx="513989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ANSH · MBA INTERNATIONAL BUSINESS · MIT PUNE · 2024–2026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57313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Challenge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226099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"How can the company leverage consumer shopping data to identify trends, improve engagement, and optimize marketing strategies?"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078460"/>
            <a:ext cx="3053877" cy="1116608"/>
          </a:xfrm>
          <a:prstGeom prst="roundRect">
            <a:avLst>
              <a:gd name="adj" fmla="val 711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3273822"/>
            <a:ext cx="2663163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3,900 Transactions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56832" y="3697288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attributes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3078460"/>
            <a:ext cx="3053976" cy="1116608"/>
          </a:xfrm>
          <a:prstGeom prst="roundRect">
            <a:avLst>
              <a:gd name="adj" fmla="val 711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3273822"/>
            <a:ext cx="266326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$233,081 Revenue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099715" y="3697288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$59.76 avg purchase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384080"/>
            <a:ext cx="6296860" cy="1116608"/>
          </a:xfrm>
          <a:prstGeom prst="roundRect">
            <a:avLst>
              <a:gd name="adj" fmla="val 711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579441"/>
            <a:ext cx="59061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43% Discount Rate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856832" y="500290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27% subscribers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7974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End-to-End Methodology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4060" y="1776214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4678513"/>
            <a:ext cx="1586812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spc="-40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347307" y="4678513"/>
            <a:ext cx="1586812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spc="-40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 Analysis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314884" y="4678513"/>
            <a:ext cx="1586812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spc="-40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61475" y="577760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raw CSV to stakeholder-ready insights — fully reproducible on GitHub.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7884"/>
            <a:ext cx="10868745" cy="513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spc="-65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at a Glance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19077"/>
            <a:ext cx="6931050" cy="392767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0659" y="1541562"/>
            <a:ext cx="3555812" cy="9662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32371" y="1717080"/>
            <a:ext cx="3128587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2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3,900 Records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232371" y="2103438"/>
            <a:ext cx="312858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-2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attributes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0659" y="2637433"/>
            <a:ext cx="3555812" cy="9662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32371" y="2812951"/>
            <a:ext cx="3128587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2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50 US States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8232371" y="3199309"/>
            <a:ext cx="312858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-2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 covered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0659" y="3733304"/>
            <a:ext cx="3555812" cy="9662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32371" y="3908822"/>
            <a:ext cx="3128587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2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 Categories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8232371" y="4295180"/>
            <a:ext cx="312858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-2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Clothing, Footwear, Accessories, Outerwear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80659" y="4829175"/>
            <a:ext cx="3555812" cy="119518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32371" y="5004693"/>
            <a:ext cx="3128587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32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37 Missing Values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232371" y="5391051"/>
            <a:ext cx="312858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-2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 only — imputed by category median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Gender &amp; Age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4276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Gender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32776" y="2483346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Male: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$157,890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Female: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$75,191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68% of revenue from 68% of customers — gap driven by volume, not spend per customer.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820517"/>
            <a:ext cx="5203794" cy="25400"/>
          </a:xfrm>
          <a:prstGeom prst="roundRect">
            <a:avLst>
              <a:gd name="adj" fmla="val 49999"/>
            </a:avLst>
          </a:prstGeom>
          <a:solidFill>
            <a:srgbClr val="E0D6DE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332776" y="4105771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 Groups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332776" y="4604841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evenly split ~24–27% each.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Young Adults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lead 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$62,143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Age is a weak standalone targeting variable.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4002"/>
            <a:ext cx="10868745" cy="503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spc="-63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Discounts &amp; Subscription Insights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415256"/>
            <a:ext cx="3560475" cy="1141710"/>
          </a:xfrm>
          <a:prstGeom prst="roundRect">
            <a:avLst>
              <a:gd name="adj" fmla="val 565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1312" y="1575098"/>
            <a:ext cx="3240800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32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43% of Transactions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1312" y="1951831"/>
            <a:ext cx="324080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Discounted — used by high &amp; low spenders alike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1475" y="2681684"/>
            <a:ext cx="3560475" cy="919063"/>
          </a:xfrm>
          <a:prstGeom prst="roundRect">
            <a:avLst>
              <a:gd name="adj" fmla="val 7018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1312" y="2841526"/>
            <a:ext cx="3240800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32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839 Customers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1312" y="3218259"/>
            <a:ext cx="324080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discount AND spent above $59.76 avg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1475" y="3725466"/>
            <a:ext cx="3560475" cy="1141710"/>
          </a:xfrm>
          <a:prstGeom prst="roundRect">
            <a:avLst>
              <a:gd name="adj" fmla="val 565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312" y="3885307"/>
            <a:ext cx="3240800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32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 Spend Premium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1312" y="4262041"/>
            <a:ext cx="324080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$59.49 vs Non-subscribers $59.87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1475" y="4991894"/>
            <a:ext cx="3560475" cy="1141710"/>
          </a:xfrm>
          <a:prstGeom prst="roundRect">
            <a:avLst>
              <a:gd name="adj" fmla="val 5650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312" y="5151735"/>
            <a:ext cx="3240800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32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2.5:1 Ratio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1312" y="5528469"/>
            <a:ext cx="324080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 outnumber subscribers among repeat buyers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2940" y="1809849"/>
            <a:ext cx="6933530" cy="39290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4276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 Retention-Heavy Base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32776" y="2483346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80%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Loyal ·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18%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Returning ·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2%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New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83 genuinely new customers — acquisition is critically under-invested.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3773289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4B3F0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060031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3990578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risk: growth depends almost entirely on retaining an already-loyal file.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711"/>
            <a:ext cx="10868745" cy="42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54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Ratings &amp; Shipping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05508"/>
            <a:ext cx="6953771" cy="3940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8492" y="2384425"/>
            <a:ext cx="3598078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Top-Rated Products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938492" y="2686844"/>
            <a:ext cx="3598078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above dataset avg of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spc="-2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3.75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Accessories &amp; footwear dominate.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938492" y="3170634"/>
            <a:ext cx="3598078" cy="19050"/>
          </a:xfrm>
          <a:prstGeom prst="roundRect">
            <a:avLst>
              <a:gd name="adj" fmla="val 49999"/>
            </a:avLst>
          </a:prstGeom>
          <a:solidFill>
            <a:srgbClr val="E0D6DE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938492" y="3322638"/>
            <a:ext cx="3598078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Express vs Standard Shipping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38492" y="3625056"/>
            <a:ext cx="3598078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-2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Express: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spc="-2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$60.48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Standard: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spc="-2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$58.46</a:t>
            </a:r>
            <a:pPr algn="l" indent="0" marL="0">
              <a:lnSpc>
                <a:spcPct val="113000"/>
              </a:lnSpc>
              <a:buNone/>
            </a:pPr>
            <a:r>
              <a:rPr lang="en-US" sz="1000" spc="-2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larger orders marginally prefer faster delivery.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190" y="5350966"/>
            <a:ext cx="194861" cy="1948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83640" y="5346998"/>
            <a:ext cx="4956349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Gloves — 3.86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0322" y="5350966"/>
            <a:ext cx="194861" cy="19486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73772" y="5346998"/>
            <a:ext cx="4956448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Sandals — 3.84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0190" y="5923359"/>
            <a:ext cx="194861" cy="19486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3640" y="5919391"/>
            <a:ext cx="4956349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Boots — 3.82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0322" y="5923359"/>
            <a:ext cx="194861" cy="19486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73772" y="5919391"/>
            <a:ext cx="4956448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Hat — 3.80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28576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Business Recommendations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5233360" y="173226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97157" y="1758851"/>
            <a:ext cx="29764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847608" y="1797149"/>
            <a:ext cx="568261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Grow Female Segment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5847608" y="2220615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headroom — under-indexes on count &amp; revenue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3360" y="290105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97157" y="2927648"/>
            <a:ext cx="29764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5847608" y="2965946"/>
            <a:ext cx="568261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 Discounts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847608" y="3389412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from blanket promos to behavior-triggered offers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33360" y="4069854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97157" y="4096445"/>
            <a:ext cx="29764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5847608" y="4134743"/>
            <a:ext cx="568261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Acquire New Customers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5847608" y="4558209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2% new — invest in acquisition channels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233360" y="523865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97157" y="5265241"/>
            <a:ext cx="29764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5847608" y="5303540"/>
            <a:ext cx="568261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Redesign Subscription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5847608" y="5727005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exclusive pricing &amp; early access to convert repeat buyers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246"/>
            <a:ext cx="10868745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spc="-6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62683"/>
            <a:ext cx="6923410" cy="39233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4648" y="3052266"/>
            <a:ext cx="354182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analytics pipeline —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spc="-26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→ SQL → Power BI</a:t>
            </a:r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delivering actionable insights on revenue, loyalty &amp; growth.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5692378"/>
            <a:ext cx="3521384" cy="64432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4868" y="5711428"/>
            <a:ext cx="3298941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4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Concentration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864868" y="6069608"/>
            <a:ext cx="329894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 &amp; category drive spend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5631" y="5692378"/>
            <a:ext cx="3521384" cy="64432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48074" y="5711428"/>
            <a:ext cx="3298941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4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Underperforming Levers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4548074" y="6069608"/>
            <a:ext cx="329894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&amp; discounting need redesign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8836" y="5692378"/>
            <a:ext cx="3521384" cy="64432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31279" y="5711428"/>
            <a:ext cx="3298941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34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Growth Exposure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8231279" y="6069608"/>
            <a:ext cx="329894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New-customer acquisition is critical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2026-09-04T10:04:52Z</dcterms:created>
  <dcterms:modified xsi:type="dcterms:W3CDTF">2026-09-04T10:04:52Z</dcterms:modified>
</cp:coreProperties>
</file>